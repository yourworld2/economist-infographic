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612648"/>
            <a:ext cx="10966399" cy="36576"/>
          </a:xfrm>
          <a:prstGeom prst="rect">
            <a:avLst/>
          </a:prstGeom>
          <a:solidFill>
            <a:srgbClr val="E312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648" y="612648"/>
            <a:ext cx="118872" cy="365760"/>
          </a:xfrm>
          <a:prstGeom prst="rect">
            <a:avLst/>
          </a:prstGeom>
          <a:solidFill>
            <a:srgbClr val="E312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9224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120B"/>
                </a:solidFill>
                <a:latin typeface="Calibri"/>
              </a:rPr>
              <a:t>CHINA'S ECONOMY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115568"/>
            <a:ext cx="1069207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719"/>
                </a:solidFill>
                <a:latin typeface="Calibri"/>
              </a:rPr>
              <a:t>China's growth has cooled to less than half its 2010 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938528"/>
            <a:ext cx="106920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96A6C"/>
                </a:solidFill>
                <a:latin typeface="Calibri"/>
              </a:rPr>
              <a:t>Real annual GDP growth, %, 2010–2024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9611" y="2624328"/>
            <a:ext cx="2832811" cy="2514599"/>
          </a:xfrm>
          <a:prstGeom prst="rect">
            <a:avLst/>
          </a:prstGeom>
          <a:solidFill>
            <a:srgbClr val="FBE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89888" y="2624328"/>
            <a:ext cx="0" cy="2514600"/>
          </a:xfrm>
          <a:prstGeom prst="line">
            <a:avLst/>
          </a:prstGeom>
          <a:ln w="19050">
            <a:solidFill>
              <a:srgbClr val="1A17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89888" y="5138928"/>
            <a:ext cx="9914839" cy="0"/>
          </a:xfrm>
          <a:prstGeom prst="line">
            <a:avLst/>
          </a:prstGeom>
          <a:ln w="19050">
            <a:solidFill>
              <a:srgbClr val="1A17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78408" y="5020056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1A1719"/>
                </a:solidFill>
                <a:latin typeface="Calibr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4600956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1A1719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4181856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1A1719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762756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1A1719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343656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1A1719"/>
                </a:solidFill>
                <a:latin typeface="Calibr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2924556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1A1719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505456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1A1719"/>
                </a:solidFill>
                <a:latin typeface="Calibri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518464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719"/>
                </a:solidFill>
                <a:latin typeface="Calibri"/>
              </a:rPr>
              <a:t>2010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1973" y="518464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719"/>
                </a:solidFill>
                <a:latin typeface="Calibri"/>
              </a:rPr>
              <a:t>2012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48379" y="518464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719"/>
                </a:solidFill>
                <a:latin typeface="Calibri"/>
              </a:rPr>
              <a:t>2014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4784" y="518464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719"/>
                </a:solidFill>
                <a:latin typeface="Calibri"/>
              </a:rPr>
              <a:t>2016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1190" y="518464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719"/>
                </a:solidFill>
                <a:latin typeface="Calibri"/>
              </a:rPr>
              <a:t>2018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7596" y="518464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719"/>
                </a:solidFill>
                <a:latin typeface="Calibri"/>
              </a:rPr>
              <a:t>2020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4001" y="518464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719"/>
                </a:solidFill>
                <a:latin typeface="Calibri"/>
              </a:rPr>
              <a:t>2022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30407" y="518464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A1719"/>
                </a:solidFill>
                <a:latin typeface="Calibri"/>
              </a:rPr>
              <a:t>2024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89888" y="2917698"/>
            <a:ext cx="708202" cy="209550"/>
          </a:xfrm>
          <a:prstGeom prst="line">
            <a:avLst/>
          </a:prstGeom>
          <a:ln w="38100">
            <a:solidFill>
              <a:srgbClr val="E31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098090" y="3127248"/>
            <a:ext cx="708203" cy="356235"/>
          </a:xfrm>
          <a:prstGeom prst="line">
            <a:avLst/>
          </a:prstGeom>
          <a:ln w="38100">
            <a:solidFill>
              <a:srgbClr val="E31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806293" y="3483483"/>
            <a:ext cx="708203" cy="20955"/>
          </a:xfrm>
          <a:prstGeom prst="line">
            <a:avLst/>
          </a:prstGeom>
          <a:ln w="38100">
            <a:solidFill>
              <a:srgbClr val="E31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514496" y="3504438"/>
            <a:ext cx="708203" cy="83820"/>
          </a:xfrm>
          <a:prstGeom prst="line">
            <a:avLst/>
          </a:prstGeom>
          <a:ln w="38100">
            <a:solidFill>
              <a:srgbClr val="E31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222699" y="3588258"/>
            <a:ext cx="708203" cy="83820"/>
          </a:xfrm>
          <a:prstGeom prst="line">
            <a:avLst/>
          </a:prstGeom>
          <a:ln w="38100">
            <a:solidFill>
              <a:srgbClr val="E31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30902" y="3672078"/>
            <a:ext cx="708202" cy="20955"/>
          </a:xfrm>
          <a:prstGeom prst="line">
            <a:avLst/>
          </a:prstGeom>
          <a:ln w="38100">
            <a:solidFill>
              <a:srgbClr val="E31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639104" y="3693033"/>
            <a:ext cx="708203" cy="0"/>
          </a:xfrm>
          <a:prstGeom prst="line">
            <a:avLst/>
          </a:prstGeom>
          <a:ln w="38100">
            <a:solidFill>
              <a:srgbClr val="E31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347307" y="3693033"/>
            <a:ext cx="708203" cy="20955"/>
          </a:xfrm>
          <a:prstGeom prst="line">
            <a:avLst/>
          </a:prstGeom>
          <a:ln w="38100">
            <a:solidFill>
              <a:srgbClr val="E31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055510" y="3713988"/>
            <a:ext cx="708203" cy="167640"/>
          </a:xfrm>
          <a:prstGeom prst="line">
            <a:avLst/>
          </a:prstGeom>
          <a:ln w="38100">
            <a:solidFill>
              <a:srgbClr val="E31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763713" y="3881628"/>
            <a:ext cx="708203" cy="796290"/>
          </a:xfrm>
          <a:prstGeom prst="line">
            <a:avLst/>
          </a:prstGeom>
          <a:ln w="38100">
            <a:solidFill>
              <a:srgbClr val="E31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471916" y="3378708"/>
            <a:ext cx="708202" cy="1299210"/>
          </a:xfrm>
          <a:prstGeom prst="line">
            <a:avLst/>
          </a:prstGeom>
          <a:ln w="38100">
            <a:solidFill>
              <a:srgbClr val="E31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180118" y="3378708"/>
            <a:ext cx="708203" cy="1131570"/>
          </a:xfrm>
          <a:prstGeom prst="line">
            <a:avLst/>
          </a:prstGeom>
          <a:ln w="38100">
            <a:solidFill>
              <a:srgbClr val="E31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888321" y="4049268"/>
            <a:ext cx="708203" cy="461010"/>
          </a:xfrm>
          <a:prstGeom prst="line">
            <a:avLst/>
          </a:prstGeom>
          <a:ln w="38100">
            <a:solidFill>
              <a:srgbClr val="E31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596524" y="4049268"/>
            <a:ext cx="708203" cy="41910"/>
          </a:xfrm>
          <a:prstGeom prst="line">
            <a:avLst/>
          </a:prstGeom>
          <a:ln w="38100">
            <a:solidFill>
              <a:srgbClr val="E312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1335024" y="2862834"/>
            <a:ext cx="109728" cy="109728"/>
          </a:xfrm>
          <a:prstGeom prst="ellipse">
            <a:avLst/>
          </a:prstGeom>
          <a:solidFill>
            <a:srgbClr val="E312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043226" y="3072384"/>
            <a:ext cx="109728" cy="109728"/>
          </a:xfrm>
          <a:prstGeom prst="ellipse">
            <a:avLst/>
          </a:prstGeom>
          <a:solidFill>
            <a:srgbClr val="E312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751429" y="3428619"/>
            <a:ext cx="109728" cy="109728"/>
          </a:xfrm>
          <a:prstGeom prst="ellipse">
            <a:avLst/>
          </a:prstGeom>
          <a:solidFill>
            <a:srgbClr val="E312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59632" y="3449574"/>
            <a:ext cx="109728" cy="109728"/>
          </a:xfrm>
          <a:prstGeom prst="ellipse">
            <a:avLst/>
          </a:prstGeom>
          <a:solidFill>
            <a:srgbClr val="E312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167835" y="3533394"/>
            <a:ext cx="109728" cy="109728"/>
          </a:xfrm>
          <a:prstGeom prst="ellipse">
            <a:avLst/>
          </a:prstGeom>
          <a:solidFill>
            <a:srgbClr val="E312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876038" y="3617214"/>
            <a:ext cx="109728" cy="109728"/>
          </a:xfrm>
          <a:prstGeom prst="ellipse">
            <a:avLst/>
          </a:prstGeom>
          <a:solidFill>
            <a:srgbClr val="E312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84240" y="3638169"/>
            <a:ext cx="109728" cy="109728"/>
          </a:xfrm>
          <a:prstGeom prst="ellipse">
            <a:avLst/>
          </a:prstGeom>
          <a:solidFill>
            <a:srgbClr val="E312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92443" y="3638169"/>
            <a:ext cx="109728" cy="109728"/>
          </a:xfrm>
          <a:prstGeom prst="ellipse">
            <a:avLst/>
          </a:prstGeom>
          <a:solidFill>
            <a:srgbClr val="E312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000646" y="3659124"/>
            <a:ext cx="109728" cy="109728"/>
          </a:xfrm>
          <a:prstGeom prst="ellipse">
            <a:avLst/>
          </a:prstGeom>
          <a:solidFill>
            <a:srgbClr val="E312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708849" y="3826764"/>
            <a:ext cx="109728" cy="109728"/>
          </a:xfrm>
          <a:prstGeom prst="ellipse">
            <a:avLst/>
          </a:prstGeom>
          <a:solidFill>
            <a:srgbClr val="E312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417052" y="4623054"/>
            <a:ext cx="109728" cy="109728"/>
          </a:xfrm>
          <a:prstGeom prst="ellipse">
            <a:avLst/>
          </a:prstGeom>
          <a:solidFill>
            <a:srgbClr val="E312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125254" y="3323844"/>
            <a:ext cx="109728" cy="109728"/>
          </a:xfrm>
          <a:prstGeom prst="ellipse">
            <a:avLst/>
          </a:prstGeom>
          <a:solidFill>
            <a:srgbClr val="E312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33457" y="4455414"/>
            <a:ext cx="109728" cy="109728"/>
          </a:xfrm>
          <a:prstGeom prst="ellipse">
            <a:avLst/>
          </a:prstGeom>
          <a:solidFill>
            <a:srgbClr val="E312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541660" y="3994404"/>
            <a:ext cx="109728" cy="109728"/>
          </a:xfrm>
          <a:prstGeom prst="ellipse">
            <a:avLst/>
          </a:prstGeom>
          <a:solidFill>
            <a:srgbClr val="E312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249863" y="4036314"/>
            <a:ext cx="109728" cy="109728"/>
          </a:xfrm>
          <a:prstGeom prst="ellipse">
            <a:avLst/>
          </a:prstGeom>
          <a:solidFill>
            <a:srgbClr val="E312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15568" y="250621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3120B"/>
                </a:solidFill>
                <a:latin typeface="Calibri"/>
              </a:rPr>
              <a:t>10.6%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7596" y="4751070"/>
            <a:ext cx="548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3120B"/>
                </a:solidFill>
                <a:latin typeface="Calibri"/>
              </a:rPr>
              <a:t>2.2%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05798" y="296722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3120B"/>
                </a:solidFill>
                <a:latin typeface="Calibri"/>
              </a:rPr>
              <a:t>8.4%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38967" y="367969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3120B"/>
                </a:solidFill>
                <a:latin typeface="Calibri"/>
              </a:rPr>
              <a:t>5.0%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94497" y="5413248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96A6C"/>
                </a:solidFill>
                <a:latin typeface="Calibri"/>
              </a:rPr>
              <a:t>covid whiplash, 2020–22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" y="5824728"/>
            <a:ext cx="106920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96A6C"/>
                </a:solidFill>
                <a:latin typeface="Calibri"/>
              </a:rPr>
              <a:t>Source: National Bureau of Statistics of China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